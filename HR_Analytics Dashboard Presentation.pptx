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Dashboard metrics: &lt;File&gt;new hr retention dashboard.pdf&lt;/File&gt;, page 1.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All metrics and insights are derived from &lt;File&gt;new hr retention dashboard.pdf&lt;/File&gt;, pages 1, 3, 4, 5, 7, and 8.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Dashboard screenshot and metrics: &lt;File&gt;new hr retention dashboard.pdf&lt;/File&gt;, page 1.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Dashboard screenshot and metrics: &lt;File&gt;new hr retention dashboard.pdf&lt;/File&gt;, page 2.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Dashboard screenshot and metrics: &lt;File&gt;new hr retention dashboard.pdf&lt;/File&gt;, page 3.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Dashboard screenshot and metrics: &lt;File&gt;new hr retention dashboard.pdf&lt;/File&gt;, page 4.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Dashboard screenshot and metrics: &lt;File&gt;new hr retention dashboard.pdf&lt;/File&gt;, page 5.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Dashboard screenshot and metrics: &lt;File&gt;new hr retention dashboard.pdf&lt;/File&gt;, page 6.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Dashboard screenshot and metrics: &lt;File&gt;new hr retention dashboard.pdf&lt;/File&gt;, page 7.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Dashboard screenshot and metrics: &lt;File&gt;new hr retention dashboard.pdf&lt;/File&gt;, page 8.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Recommendations synthesize findings from &lt;File&gt;new hr retention dashboard.pdf&lt;/File&gt;, pages 1-8.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Metrics: &lt;File&gt;new hr retention dashboard.pdf&lt;/File&gt;, pages 4, 5, 7 and 8.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A6A6"/>
          </a:solidFill>
          <a:ln w="12700">
            <a:solidFill>
              <a:srgbClr val="1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46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 ANALYTICS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555480" y="2468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dashboard story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96491d9d84.png">    </p:cNvPr>
          <p:cNvPicPr>
            <a:picLocks noChangeAspect="1"/>
          </p:cNvPicPr>
          <p:nvPr/>
        </p:nvPicPr>
        <p:blipFill>
          <a:blip r:embed="rId1"/>
          <a:srcRect l="0" r="0"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638">
              <a:alpha val="70000"/>
            </a:srgbClr>
          </a:solidFill>
          <a:ln w="12700">
            <a:solidFill>
              <a:srgbClr val="06263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4160520"/>
            <a:ext cx="12191695" cy="2697480"/>
          </a:xfrm>
          <a:prstGeom prst="rect">
            <a:avLst/>
          </a:prstGeom>
          <a:solidFill>
            <a:srgbClr val="062638">
              <a:alpha val="90000"/>
            </a:srgbClr>
          </a:solidFill>
          <a:ln w="12700">
            <a:solidFill>
              <a:srgbClr val="06263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44348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HR Analytics Dashboard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13232" y="51389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F5F3"/>
                </a:solidFill>
              </a:rPr>
              <a:t>Workforce, Retention, Performance &amp; Strategic Insights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13232" y="5669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2D8E5"/>
                </a:solidFill>
              </a:rPr>
              <a:t>A management-ready story built from the Power BI HR dashboard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3232" y="614476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0C8"/>
                </a:solidFill>
              </a:rPr>
              <a:t>311 employees  •  207 active  •  104 terminations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A"/>
                </a:solidFill>
              </a:rPr>
              <a:t>The dashboard points to a stable core workforce, but retention and talent risk require focused action.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2057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3EBE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54480"/>
            <a:ext cx="64008" cy="1078992"/>
          </a:xfrm>
          <a:prstGeom prst="rect">
            <a:avLst/>
          </a:prstGeom>
          <a:solidFill>
            <a:srgbClr val="10A6A6"/>
          </a:solidFill>
          <a:ln w="12700">
            <a:solidFill>
              <a:srgbClr val="10A6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6916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88A"/>
                </a:solidFill>
              </a:rPr>
              <a:t>TOTAL EMPLOYEES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58952" y="19476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14A"/>
                </a:solidFill>
              </a:rPr>
              <a:t>311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58952" y="23591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88A"/>
                </a:solidFill>
              </a:rPr>
              <a:t>Full employee population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88920" y="1554480"/>
            <a:ext cx="2057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3EBE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1554480"/>
            <a:ext cx="64008" cy="1078992"/>
          </a:xfrm>
          <a:prstGeom prst="rect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53512" y="16916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88A"/>
                </a:solidFill>
              </a:rPr>
              <a:t>ACTIVE WORKFORCE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53512" y="19476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14A"/>
                </a:solidFill>
              </a:rPr>
              <a:t>207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953512" y="23591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88A"/>
                </a:solidFill>
              </a:rPr>
              <a:t>66.56% of workforce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983480" y="1554480"/>
            <a:ext cx="2057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3EBE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83480" y="1554480"/>
            <a:ext cx="64008" cy="1078992"/>
          </a:xfrm>
          <a:prstGeom prst="rect">
            <a:avLst/>
          </a:prstGeom>
          <a:solidFill>
            <a:srgbClr val="FF7A66"/>
          </a:solidFill>
          <a:ln w="12700">
            <a:solidFill>
              <a:srgbClr val="FF7A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8072" y="16916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88A"/>
                </a:solidFill>
              </a:rPr>
              <a:t>TERMINATIONS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48072" y="19476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14A"/>
                </a:solidFill>
              </a:rPr>
              <a:t>104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148072" y="23591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88A"/>
                </a:solidFill>
              </a:rPr>
              <a:t>Historical exits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78040" y="1554480"/>
            <a:ext cx="2057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3EBE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78040" y="1554480"/>
            <a:ext cx="64008" cy="1078992"/>
          </a:xfrm>
          <a:prstGeom prst="rect">
            <a:avLst/>
          </a:prstGeom>
          <a:solidFill>
            <a:srgbClr val="F3B44B"/>
          </a:solidFill>
          <a:ln w="12700">
            <a:solidFill>
              <a:srgbClr val="F3B4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42632" y="16916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88A"/>
                </a:solidFill>
              </a:rPr>
              <a:t>AVG. SALARY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42632" y="19476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14A"/>
                </a:solidFill>
              </a:rPr>
              <a:t>$69.02K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342632" y="23591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88A"/>
                </a:solidFill>
              </a:rPr>
              <a:t>Annual average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372600" y="1554480"/>
            <a:ext cx="20574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3EBE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372600" y="1554480"/>
            <a:ext cx="64008" cy="1078992"/>
          </a:xfrm>
          <a:prstGeom prst="rect">
            <a:avLst/>
          </a:prstGeom>
          <a:solidFill>
            <a:srgbClr val="3EC6C6"/>
          </a:solidFill>
          <a:ln w="12700">
            <a:solidFill>
              <a:srgbClr val="3EC6C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37192" y="16916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88A"/>
                </a:solidFill>
              </a:rPr>
              <a:t>AVG. TENURE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537192" y="19476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14A"/>
                </a:solidFill>
              </a:rPr>
              <a:t>13.20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537192" y="23591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88A"/>
                </a:solidFill>
              </a:rPr>
              <a:t>Dashboard tenure measure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4360" y="2971800"/>
            <a:ext cx="356616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2971800"/>
            <a:ext cx="54864" cy="2423160"/>
          </a:xfrm>
          <a:prstGeom prst="rect">
            <a:avLst/>
          </a:prstGeom>
          <a:solidFill>
            <a:srgbClr val="10A6A6"/>
          </a:solidFill>
          <a:ln w="12700">
            <a:solidFill>
              <a:srgbClr val="10A6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31089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14A"/>
                </a:solidFill>
              </a:rPr>
              <a:t>What stands out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8952" y="3474720"/>
            <a:ext cx="3273552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Retention is 66.6%, leaving roughly one-third of the historical workforce terminated.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Production is the dominant workforce and payroll population, making it the highest-leverage area for HR action.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90.03% of employees are on track, while 9.97% are low performers.</a:t>
            </a:r>
            <a:endParaRPr lang="en-US" sz="1070" dirty="0"/>
          </a:p>
        </p:txBody>
      </p:sp>
      <p:sp>
        <p:nvSpPr>
          <p:cNvPr id="33" name="Shape 31"/>
          <p:cNvSpPr/>
          <p:nvPr/>
        </p:nvSpPr>
        <p:spPr>
          <a:xfrm>
            <a:off x="4315968" y="2971800"/>
            <a:ext cx="356616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15968" y="2971800"/>
            <a:ext cx="54864" cy="2423160"/>
          </a:xfrm>
          <a:prstGeom prst="rect">
            <a:avLst/>
          </a:prstGeom>
          <a:solidFill>
            <a:srgbClr val="FF7A66"/>
          </a:solidFill>
          <a:ln w="12700">
            <a:solidFill>
              <a:srgbClr val="FF7A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98848" y="31089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14A"/>
                </a:solidFill>
              </a:rPr>
              <a:t>Key risks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480560" y="3474720"/>
            <a:ext cx="3273552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High-performer share is only 11.9%, so retaining strong talent matters disproportionately.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Production retention is 60.3%, lower than several other major departments.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Exit reasons are spread across job moves, dissatisfaction, pay, career change and hours, suggesting multiple retention levers.</a:t>
            </a:r>
            <a:endParaRPr lang="en-US" sz="1070" dirty="0"/>
          </a:p>
        </p:txBody>
      </p:sp>
      <p:sp>
        <p:nvSpPr>
          <p:cNvPr id="37" name="Shape 35"/>
          <p:cNvSpPr/>
          <p:nvPr/>
        </p:nvSpPr>
        <p:spPr>
          <a:xfrm>
            <a:off x="8037576" y="2971800"/>
            <a:ext cx="356616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37576" y="2971800"/>
            <a:ext cx="54864" cy="2423160"/>
          </a:xfrm>
          <a:prstGeom prst="rect">
            <a:avLst/>
          </a:prstGeom>
          <a:solidFill>
            <a:srgbClr val="F3B44B"/>
          </a:solidFill>
          <a:ln w="12700">
            <a:solidFill>
              <a:srgbClr val="F3B4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0456" y="31089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14A"/>
                </a:solidFill>
              </a:rPr>
              <a:t>Management priorities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202168" y="3474720"/>
            <a:ext cx="3273552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Prioritize Production retention and frontline manager interventions.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Protect high performers through targeted career and compensation reviews.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Use recruitment-source retention, not hire volume alone, to guide sourcing investment.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Executive workforce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A"/>
                </a:solidFill>
              </a:rPr>
              <a:t>A concise view of workforce size, composition, department concentration and salary.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086600" cy="4892040"/>
          </a:xfrm>
          <a:prstGeom prst="roundRect">
            <a:avLst>
              <a:gd name="adj" fmla="val 935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  <a:effectLst>
            <a:outerShdw sx="100000" sy="100000" kx="0" ky="0" algn="bl" rotWithShape="0" blurRad="17780" dist="508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mnt/data/ppt_work/pdf/pag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12134"/>
            <a:ext cx="6995160" cy="40109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508760"/>
            <a:ext cx="388620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26680" y="1508760"/>
            <a:ext cx="54864" cy="1572768"/>
          </a:xfrm>
          <a:prstGeom prst="rect">
            <a:avLst/>
          </a:prstGeom>
          <a:solidFill>
            <a:srgbClr val="10A6A6"/>
          </a:solidFill>
          <a:ln w="12700">
            <a:solidFill>
              <a:srgbClr val="10A6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09560" y="16459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14A"/>
                </a:solidFill>
              </a:rPr>
              <a:t>Headline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91272" y="2011680"/>
            <a:ext cx="3593592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207 of 311 employees are active, equivalent to 66.6% of the employee population.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Average annual salary is $69.02K.</a:t>
            </a:r>
            <a:endParaRPr lang="en-US" sz="1070" dirty="0"/>
          </a:p>
        </p:txBody>
      </p:sp>
      <p:sp>
        <p:nvSpPr>
          <p:cNvPr id="10" name="Shape 7"/>
          <p:cNvSpPr/>
          <p:nvPr/>
        </p:nvSpPr>
        <p:spPr>
          <a:xfrm>
            <a:off x="7726680" y="3246120"/>
            <a:ext cx="3886200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26680" y="3246120"/>
            <a:ext cx="54864" cy="2212848"/>
          </a:xfrm>
          <a:prstGeom prst="rect">
            <a:avLst/>
          </a:prstGeom>
          <a:solidFill>
            <a:srgbClr val="3EC6C6"/>
          </a:solidFill>
          <a:ln w="12700">
            <a:solidFill>
              <a:srgbClr val="3EC6C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09560" y="3383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14A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891272" y="3749040"/>
            <a:ext cx="3593592" cy="1591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Production is visibly the largest department, so organization-wide workforce trends will be strongly influenced by Production.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The gender split is 176 vs 135 employees (56.59% vs 43.41%).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Use department slicers when interpreting overall retention, performance and compensation KPIs.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Workforce demographics &amp; role structure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A"/>
                </a:solidFill>
              </a:rPr>
              <a:t>The workforce is concentrated in operational roles, with a broad age and geographic footprint.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086600" cy="4892040"/>
          </a:xfrm>
          <a:prstGeom prst="roundRect">
            <a:avLst>
              <a:gd name="adj" fmla="val 935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  <a:effectLst>
            <a:outerShdw sx="100000" sy="100000" kx="0" ky="0" algn="bl" rotWithShape="0" blurRad="17780" dist="508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mnt/data/ppt_work/pdf/pag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12134"/>
            <a:ext cx="6995160" cy="40109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481328"/>
            <a:ext cx="388620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26680" y="1481328"/>
            <a:ext cx="54864" cy="1572768"/>
          </a:xfrm>
          <a:prstGeom prst="rect">
            <a:avLst/>
          </a:prstGeom>
          <a:solidFill>
            <a:srgbClr val="10A6A6"/>
          </a:solidFill>
          <a:ln w="12700">
            <a:solidFill>
              <a:srgbClr val="10A6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09560" y="1618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14A"/>
                </a:solidFill>
              </a:rPr>
              <a:t>Workforce profile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91272" y="1984248"/>
            <a:ext cx="3593592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Average age is 47.18 years.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Production Technician I is the most prominent position by employee count.</a:t>
            </a:r>
            <a:endParaRPr lang="en-US" sz="1070" dirty="0"/>
          </a:p>
        </p:txBody>
      </p:sp>
      <p:sp>
        <p:nvSpPr>
          <p:cNvPr id="10" name="Shape 7"/>
          <p:cNvSpPr/>
          <p:nvPr/>
        </p:nvSpPr>
        <p:spPr>
          <a:xfrm>
            <a:off x="7726680" y="3246120"/>
            <a:ext cx="3886200" cy="2304288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26680" y="3246120"/>
            <a:ext cx="54864" cy="2304288"/>
          </a:xfrm>
          <a:prstGeom prst="rect">
            <a:avLst/>
          </a:prstGeom>
          <a:solidFill>
            <a:srgbClr val="F3B44B"/>
          </a:solidFill>
          <a:ln w="12700">
            <a:solidFill>
              <a:srgbClr val="F3B4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09560" y="3383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14A"/>
                </a:solidFill>
              </a:rPr>
              <a:t>Strategic implication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891272" y="3749040"/>
            <a:ext cx="3593592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Role concentration creates succession and capacity risk if hiring or retention weakens in key operational jobs.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Age distribution and the dashboard's retirement-risk signal should be reviewed together for workforce continuity.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Geographic dispersion supports adding location-level workforce planning and recruiting views.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Recruitment effectiveness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A"/>
                </a:solidFill>
              </a:rPr>
              <a:t>Hiring volume is only half the story; sourcing quality should be judged by diversity and retention outcomes.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086600" cy="4892040"/>
          </a:xfrm>
          <a:prstGeom prst="roundRect">
            <a:avLst>
              <a:gd name="adj" fmla="val 935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  <a:effectLst>
            <a:outerShdw sx="100000" sy="100000" kx="0" ky="0" algn="bl" rotWithShape="0" blurRad="17780" dist="508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mnt/data/ppt_work/pdf/pag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12134"/>
            <a:ext cx="6995160" cy="40109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481328"/>
            <a:ext cx="38862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26680" y="1481328"/>
            <a:ext cx="54864" cy="1554480"/>
          </a:xfrm>
          <a:prstGeom prst="rect">
            <a:avLst/>
          </a:prstGeom>
          <a:solidFill>
            <a:srgbClr val="10A6A6"/>
          </a:solidFill>
          <a:ln w="12700">
            <a:solidFill>
              <a:srgbClr val="10A6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09560" y="1618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14A"/>
                </a:solidFill>
              </a:rPr>
              <a:t>What the page shows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91272" y="1984248"/>
            <a:ext cx="3593592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Indeed and LinkedIn appear among the largest recruitment sources.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The dashboard compares sourcing volume, diversity sourcing and retention by channel.</a:t>
            </a:r>
            <a:endParaRPr lang="en-US" sz="1070" dirty="0"/>
          </a:p>
        </p:txBody>
      </p:sp>
      <p:sp>
        <p:nvSpPr>
          <p:cNvPr id="10" name="Shape 7"/>
          <p:cNvSpPr/>
          <p:nvPr/>
        </p:nvSpPr>
        <p:spPr>
          <a:xfrm>
            <a:off x="7726680" y="3200400"/>
            <a:ext cx="3886200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26680" y="3200400"/>
            <a:ext cx="54864" cy="2395728"/>
          </a:xfrm>
          <a:prstGeom prst="rect">
            <a:avLst/>
          </a:prstGeom>
          <a:solidFill>
            <a:srgbClr val="3EC6C6"/>
          </a:solidFill>
          <a:ln w="12700">
            <a:solidFill>
              <a:srgbClr val="3EC6C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09560" y="3337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14A"/>
                </a:solidFill>
              </a:rPr>
              <a:t>Recommended decision use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891272" y="3703320"/>
            <a:ext cx="3593592" cy="17739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Shift sourcing spend toward channels that combine adequate hiring volume with stronger retention.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Track source-of-hire performance by department and role because a channel may work well for one talent segment and poorly for another.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Add time-to-hire and cost-per-hire when those fields become available to complete the recruiting ROI view.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Attrition &amp; retention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A"/>
                </a:solidFill>
              </a:rPr>
              <a:t>Overall retention is 66.6%, but the departmental pattern reveals where intervention should start.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086600" cy="4892040"/>
          </a:xfrm>
          <a:prstGeom prst="roundRect">
            <a:avLst>
              <a:gd name="adj" fmla="val 935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  <a:effectLst>
            <a:outerShdw sx="100000" sy="100000" kx="0" ky="0" algn="bl" rotWithShape="0" blurRad="17780" dist="508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mnt/data/ppt_work/pdf/pag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12134"/>
            <a:ext cx="6995160" cy="40109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463040"/>
            <a:ext cx="38862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26680" y="1463040"/>
            <a:ext cx="54864" cy="1828800"/>
          </a:xfrm>
          <a:prstGeom prst="rect">
            <a:avLst/>
          </a:prstGeom>
          <a:solidFill>
            <a:srgbClr val="FF7A66"/>
          </a:solidFill>
          <a:ln w="12700">
            <a:solidFill>
              <a:srgbClr val="FF7A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09560" y="1600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14A"/>
                </a:solidFill>
              </a:rPr>
              <a:t>Department signal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91272" y="1965960"/>
            <a:ext cx="3593592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Executive Office: 100.0% retention.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Sales: 83.9%; IT/IS: 80.0%; Admin Offices: 77.8%.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Software Engineering: 63.6%; Production: 60.3%.</a:t>
            </a:r>
            <a:endParaRPr lang="en-US" sz="1070" dirty="0"/>
          </a:p>
        </p:txBody>
      </p:sp>
      <p:sp>
        <p:nvSpPr>
          <p:cNvPr id="10" name="Shape 7"/>
          <p:cNvSpPr/>
          <p:nvPr/>
        </p:nvSpPr>
        <p:spPr>
          <a:xfrm>
            <a:off x="7726680" y="3520440"/>
            <a:ext cx="38862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26680" y="3520440"/>
            <a:ext cx="54864" cy="2011680"/>
          </a:xfrm>
          <a:prstGeom prst="rect">
            <a:avLst/>
          </a:prstGeom>
          <a:solidFill>
            <a:srgbClr val="F3B44B"/>
          </a:solidFill>
          <a:ln w="12700">
            <a:solidFill>
              <a:srgbClr val="F3B4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09560" y="36576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14A"/>
                </a:solidFill>
              </a:rPr>
              <a:t>Retention actions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891272" y="4023360"/>
            <a:ext cx="3593592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Start root-cause reviews in Production and Software Engineering.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Exit drivers include another position, unhappiness, more money, career change and hours, indicating both external pull and internal experience factors.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Pair exit reasons with manager, tenure and performance to find preventable high-value attrition.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Performance &amp; talent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A"/>
                </a:solidFill>
              </a:rPr>
              <a:t>Most employees are meeting expectations, while the high-performer pool is relatively small and strategically important.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086600" cy="4892040"/>
          </a:xfrm>
          <a:prstGeom prst="roundRect">
            <a:avLst>
              <a:gd name="adj" fmla="val 935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  <a:effectLst>
            <a:outerShdw sx="100000" sy="100000" kx="0" ky="0" algn="bl" rotWithShape="0" blurRad="17780" dist="508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mnt/data/ppt_work/pdf/pag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12134"/>
            <a:ext cx="6995160" cy="40109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481328"/>
            <a:ext cx="179222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BE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26680" y="1481328"/>
            <a:ext cx="64008" cy="1005840"/>
          </a:xfrm>
          <a:prstGeom prst="rect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91272" y="161848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88A"/>
                </a:solidFill>
              </a:rPr>
              <a:t>HIGH PERFORMERS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891272" y="1874520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14A"/>
                </a:solidFill>
              </a:rPr>
              <a:t>37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9656064" y="1481328"/>
            <a:ext cx="179222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BE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656064" y="1481328"/>
            <a:ext cx="64008" cy="1005840"/>
          </a:xfrm>
          <a:prstGeom prst="rect">
            <a:avLst/>
          </a:prstGeom>
          <a:solidFill>
            <a:srgbClr val="10A6A6"/>
          </a:solidFill>
          <a:ln w="12700">
            <a:solidFill>
              <a:srgbClr val="10A6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20656" y="1618488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88A"/>
                </a:solidFill>
              </a:rPr>
              <a:t>% ON TRACK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820656" y="1874520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14A"/>
                </a:solidFill>
              </a:rPr>
              <a:t>90.03%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7726680" y="2651760"/>
            <a:ext cx="179222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BE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26680" y="2651760"/>
            <a:ext cx="64008" cy="1005840"/>
          </a:xfrm>
          <a:prstGeom prst="rect">
            <a:avLst/>
          </a:prstGeom>
          <a:solidFill>
            <a:srgbClr val="3EC6C6"/>
          </a:solidFill>
          <a:ln w="12700">
            <a:solidFill>
              <a:srgbClr val="3EC6C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91272" y="278892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88A"/>
                </a:solidFill>
              </a:rPr>
              <a:t>HIGH PERF. %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891272" y="304495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14A"/>
                </a:solidFill>
              </a:rPr>
              <a:t>11.9%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9656064" y="2651760"/>
            <a:ext cx="179222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BE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656064" y="2651760"/>
            <a:ext cx="64008" cy="1005840"/>
          </a:xfrm>
          <a:prstGeom prst="rect">
            <a:avLst/>
          </a:prstGeom>
          <a:solidFill>
            <a:srgbClr val="FF7A66"/>
          </a:solidFill>
          <a:ln w="12700">
            <a:solidFill>
              <a:srgbClr val="FF7A6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20656" y="2788920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88A"/>
                </a:solidFill>
              </a:rPr>
              <a:t>LOW PERF. %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820656" y="3044952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14A"/>
                </a:solidFill>
              </a:rPr>
              <a:t>9.97%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7726680" y="3886200"/>
            <a:ext cx="3721608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26680" y="3886200"/>
            <a:ext cx="54864" cy="1664208"/>
          </a:xfrm>
          <a:prstGeom prst="rect">
            <a:avLst/>
          </a:prstGeom>
          <a:solidFill>
            <a:srgbClr val="F3B44B"/>
          </a:solidFill>
          <a:ln w="12700">
            <a:solidFill>
              <a:srgbClr val="F3B44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09560" y="402336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14A"/>
                </a:solidFill>
              </a:rPr>
              <a:t>Talent implication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891272" y="4389120"/>
            <a:ext cx="3429000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Retention plans should explicitly identify and protect the 37 high performers.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The low-performer segment is small enough for targeted coaching, role fit reviews and clear performance plans.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Department-level performance should be interpreted alongside headcount to avoid overreacting to small teams.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Engagement &amp; attendance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A"/>
                </a:solidFill>
              </a:rPr>
              <a:t>Attendance patterns provide a practical early-warning signal when combined with employee satisfaction.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086600" cy="4892040"/>
          </a:xfrm>
          <a:prstGeom prst="roundRect">
            <a:avLst>
              <a:gd name="adj" fmla="val 935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  <a:effectLst>
            <a:outerShdw sx="100000" sy="100000" kx="0" ky="0" algn="bl" rotWithShape="0" blurRad="17780" dist="508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mnt/data/ppt_work/pdf/pag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12134"/>
            <a:ext cx="6995160" cy="40109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481328"/>
            <a:ext cx="38862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26680" y="1481328"/>
            <a:ext cx="54864" cy="1691640"/>
          </a:xfrm>
          <a:prstGeom prst="rect">
            <a:avLst/>
          </a:prstGeom>
          <a:solidFill>
            <a:srgbClr val="FF7A66"/>
          </a:solidFill>
          <a:ln w="12700">
            <a:solidFill>
              <a:srgbClr val="FF7A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09560" y="1618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14A"/>
                </a:solidFill>
              </a:rPr>
              <a:t>Observed signal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91272" y="1984248"/>
            <a:ext cx="3593592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Production records the largest sum of days late in the last 30 days on this page.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The visual links employee satisfaction categories with attendance behavior.</a:t>
            </a:r>
            <a:endParaRPr lang="en-US" sz="1070" dirty="0"/>
          </a:p>
        </p:txBody>
      </p:sp>
      <p:sp>
        <p:nvSpPr>
          <p:cNvPr id="10" name="Shape 7"/>
          <p:cNvSpPr/>
          <p:nvPr/>
        </p:nvSpPr>
        <p:spPr>
          <a:xfrm>
            <a:off x="7726680" y="3401568"/>
            <a:ext cx="38862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26680" y="3401568"/>
            <a:ext cx="54864" cy="2148840"/>
          </a:xfrm>
          <a:prstGeom prst="rect">
            <a:avLst/>
          </a:prstGeom>
          <a:solidFill>
            <a:srgbClr val="10A6A6"/>
          </a:solidFill>
          <a:ln w="12700">
            <a:solidFill>
              <a:srgbClr val="10A6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09560" y="35387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14A"/>
                </a:solidFill>
              </a:rPr>
              <a:t>How to use it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891272" y="3904488"/>
            <a:ext cx="3593592" cy="1527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Treat repeated lateness as a diagnostic signal, not a conclusion about engagement.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Review satisfaction, lateness, manager and termination outcomes together to identify teams needing support.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For management reporting, normalize attendance by headcount because larger departments naturally accumulate more late days.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Compensation &amp; workforce cost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A"/>
                </a:solidFill>
              </a:rPr>
              <a:t>Annual payroll is approximately $21M, with $15M tied to active employees.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086600" cy="4892040"/>
          </a:xfrm>
          <a:prstGeom prst="roundRect">
            <a:avLst>
              <a:gd name="adj" fmla="val 935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  <a:effectLst>
            <a:outerShdw sx="100000" sy="100000" kx="0" ky="0" algn="bl" rotWithShape="0" blurRad="17780" dist="508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mnt/data/ppt_work/pdf/page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12134"/>
            <a:ext cx="6995160" cy="40109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481328"/>
            <a:ext cx="17830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BE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26680" y="1481328"/>
            <a:ext cx="64008" cy="987552"/>
          </a:xfrm>
          <a:prstGeom prst="rect">
            <a:avLst/>
          </a:prstGeom>
          <a:solidFill>
            <a:srgbClr val="10A6A6"/>
          </a:solidFill>
          <a:ln w="12700">
            <a:solidFill>
              <a:srgbClr val="10A6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91272" y="16184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88A"/>
                </a:solidFill>
              </a:rPr>
              <a:t>AVG. SALARY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891272" y="1874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14A"/>
                </a:solidFill>
              </a:rPr>
              <a:t>$69.02K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9646920" y="1481328"/>
            <a:ext cx="17830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BE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646920" y="1481328"/>
            <a:ext cx="64008" cy="987552"/>
          </a:xfrm>
          <a:prstGeom prst="rect">
            <a:avLst/>
          </a:prstGeom>
          <a:solidFill>
            <a:srgbClr val="F3B44B"/>
          </a:solidFill>
          <a:ln w="12700">
            <a:solidFill>
              <a:srgbClr val="F3B4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11512" y="16184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88A"/>
                </a:solidFill>
              </a:rPr>
              <a:t>ANNUAL PAYROLL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811512" y="1874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14A"/>
                </a:solidFill>
              </a:rPr>
              <a:t>$21M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7726680" y="2615184"/>
            <a:ext cx="17830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BE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26680" y="2615184"/>
            <a:ext cx="64008" cy="987552"/>
          </a:xfrm>
          <a:prstGeom prst="rect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91272" y="27523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88A"/>
                </a:solidFill>
              </a:rPr>
              <a:t>ACTIVE PAYROLL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891272" y="300837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14A"/>
                </a:solidFill>
              </a:rPr>
              <a:t>$15M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9646920" y="2615184"/>
            <a:ext cx="17830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BE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646920" y="2615184"/>
            <a:ext cx="64008" cy="987552"/>
          </a:xfrm>
          <a:prstGeom prst="rect">
            <a:avLst/>
          </a:prstGeom>
          <a:solidFill>
            <a:srgbClr val="FF7A66"/>
          </a:solidFill>
          <a:ln w="12700">
            <a:solidFill>
              <a:srgbClr val="FF7A6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11512" y="27523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88A"/>
                </a:solidFill>
              </a:rPr>
              <a:t>TERM. PAYROLL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811512" y="300837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14A"/>
                </a:solidFill>
              </a:rPr>
              <a:t>$7M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7726680" y="3822192"/>
            <a:ext cx="370332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26680" y="3822192"/>
            <a:ext cx="54864" cy="1783080"/>
          </a:xfrm>
          <a:prstGeom prst="rect">
            <a:avLst/>
          </a:prstGeom>
          <a:solidFill>
            <a:srgbClr val="3EC6C6"/>
          </a:solidFill>
          <a:ln w="12700">
            <a:solidFill>
              <a:srgbClr val="3EC6C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09560" y="39593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14A"/>
                </a:solidFill>
              </a:rPr>
              <a:t>Compensation insight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891272" y="4325112"/>
            <a:ext cx="3410712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Production carries the largest payroll because it has the largest workforce footprint.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Pay by performance score is broadly clustered, so performance differentiation should be monitored alongside job level and role mix.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Gender pay views should be interpreted within comparable roles and departments before drawing equity conclusions.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Workforce planning &amp; strategic insights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A"/>
                </a:solidFill>
              </a:rPr>
              <a:t>The planning view combines capacity, retention, talent quality and succession risk.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086600" cy="4892040"/>
          </a:xfrm>
          <a:prstGeom prst="roundRect">
            <a:avLst>
              <a:gd name="adj" fmla="val 935"/>
            </a:avLst>
          </a:prstGeom>
          <a:solidFill>
            <a:srgbClr val="FFFFFF"/>
          </a:solidFill>
          <a:ln w="12700">
            <a:solidFill>
              <a:srgbClr val="D7E1E7"/>
            </a:solidFill>
            <a:prstDash val="solid"/>
          </a:ln>
          <a:effectLst>
            <a:outerShdw sx="100000" sy="100000" kx="0" ky="0" algn="bl" rotWithShape="0" blurRad="17780" dist="508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mnt/data/ppt_work/pdf/page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12134"/>
            <a:ext cx="6995160" cy="40109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444752"/>
            <a:ext cx="1773936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3EBE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26680" y="1444752"/>
            <a:ext cx="64008" cy="941832"/>
          </a:xfrm>
          <a:prstGeom prst="rect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91272" y="158191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88A"/>
                </a:solidFill>
              </a:rPr>
              <a:t>RETENTION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891272" y="1837944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14A"/>
                </a:solidFill>
              </a:rPr>
              <a:t>66.56%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9646920" y="1444752"/>
            <a:ext cx="1773936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3EBE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646920" y="1444752"/>
            <a:ext cx="64008" cy="941832"/>
          </a:xfrm>
          <a:prstGeom prst="rect">
            <a:avLst/>
          </a:prstGeom>
          <a:solidFill>
            <a:srgbClr val="FF7A66"/>
          </a:solidFill>
          <a:ln w="12700">
            <a:solidFill>
              <a:srgbClr val="FF7A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811512" y="158191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88A"/>
                </a:solidFill>
              </a:rPr>
              <a:t>RETIREMENT RISK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811512" y="1837944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14A"/>
                </a:solidFill>
              </a:rPr>
              <a:t>16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7726680" y="2523744"/>
            <a:ext cx="1773936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3EBE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26680" y="2523744"/>
            <a:ext cx="64008" cy="941832"/>
          </a:xfrm>
          <a:prstGeom prst="rect">
            <a:avLst/>
          </a:prstGeom>
          <a:solidFill>
            <a:srgbClr val="10A6A6"/>
          </a:solidFill>
          <a:ln w="12700">
            <a:solidFill>
              <a:srgbClr val="10A6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91272" y="2660904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88A"/>
                </a:solidFill>
              </a:rPr>
              <a:t>HIGH PERF. %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891272" y="2916936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14A"/>
                </a:solidFill>
              </a:rPr>
              <a:t>11.9%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9646920" y="2523744"/>
            <a:ext cx="1773936" cy="941832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E3EBE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9646920" y="2523744"/>
            <a:ext cx="64008" cy="941832"/>
          </a:xfrm>
          <a:prstGeom prst="rect">
            <a:avLst/>
          </a:prstGeom>
          <a:solidFill>
            <a:srgbClr val="F3B44B"/>
          </a:solidFill>
          <a:ln w="12700">
            <a:solidFill>
              <a:srgbClr val="F3B44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11512" y="2660904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88A"/>
                </a:solidFill>
              </a:rPr>
              <a:t>LOW PERF. %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811512" y="2916936"/>
            <a:ext cx="1453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314A"/>
                </a:solidFill>
              </a:rPr>
              <a:t>9.97%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7726680" y="3712464"/>
            <a:ext cx="3703320" cy="1847088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26680" y="3712464"/>
            <a:ext cx="54864" cy="1847088"/>
          </a:xfrm>
          <a:prstGeom prst="rect">
            <a:avLst/>
          </a:prstGeom>
          <a:solidFill>
            <a:srgbClr val="FF7A66"/>
          </a:solidFill>
          <a:ln w="12700">
            <a:solidFill>
              <a:srgbClr val="FF7A6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09560" y="38496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14A"/>
                </a:solidFill>
              </a:rPr>
              <a:t>Planning priorities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891272" y="4215384"/>
            <a:ext cx="3410712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Prepare succession or knowledge-transfer plans for the 16 employees flagged in the retirement-risk forecast.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Review manager span of control, especially in large departments, to identify overloaded or unusually narrow structures.</a:t>
            </a:r>
            <a:endParaRPr lang="en-US" sz="1070" dirty="0"/>
          </a:p>
          <a:p>
            <a:pPr marL="152400" indent="-152400">
              <a:buSzPct val="100000"/>
              <a:buChar char="•"/>
            </a:pPr>
            <a:r>
              <a:rPr lang="en-US" sz="1070" dirty="0">
                <a:solidFill>
                  <a:srgbClr val="203040"/>
                </a:solidFill>
              </a:rPr>
              <a:t>Build workforce scenarios by department: current headcount, expected exits, critical roles and replacement demand.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recommendations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A"/>
                </a:solidFill>
              </a:rPr>
              <a:t>Five actions convert the dashboard from reporting into workforce decisions.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512064" cy="512064"/>
          </a:xfrm>
          <a:prstGeom prst="ellipse">
            <a:avLst/>
          </a:prstGeom>
          <a:solidFill>
            <a:srgbClr val="10A6A6"/>
          </a:solidFill>
          <a:ln w="12700">
            <a:solidFill>
              <a:srgbClr val="10A6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64208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389888" y="14904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14A"/>
                </a:solidFill>
              </a:rPr>
              <a:t>Protect critical talent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977640" y="1481328"/>
            <a:ext cx="71323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040"/>
                </a:solidFill>
              </a:rPr>
              <a:t>Create a high-performer retention watchlist combining performance, tenure, compensation and manager.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389888" y="2194560"/>
            <a:ext cx="9784080" cy="0"/>
          </a:xfrm>
          <a:prstGeom prst="line">
            <a:avLst/>
          </a:prstGeom>
          <a:noFill/>
          <a:ln w="12700">
            <a:solidFill>
              <a:srgbClr val="E0E8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450592"/>
            <a:ext cx="512064" cy="512064"/>
          </a:xfrm>
          <a:prstGeom prst="ellipse">
            <a:avLst/>
          </a:prstGeom>
          <a:solidFill>
            <a:srgbClr val="FF7A66"/>
          </a:solidFill>
          <a:ln w="12700">
            <a:solidFill>
              <a:srgbClr val="FF7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60604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389888" y="24323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14A"/>
                </a:solidFill>
              </a:rPr>
              <a:t>Stabilize Production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77640" y="2423160"/>
            <a:ext cx="71323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040"/>
                </a:solidFill>
              </a:rPr>
              <a:t>Prioritize Production because it combines the largest workforce footprint with 60.3% retention.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389888" y="3136392"/>
            <a:ext cx="9784080" cy="0"/>
          </a:xfrm>
          <a:prstGeom prst="line">
            <a:avLst/>
          </a:prstGeom>
          <a:noFill/>
          <a:ln w="12700">
            <a:solidFill>
              <a:srgbClr val="E0E8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3392424"/>
            <a:ext cx="512064" cy="512064"/>
          </a:xfrm>
          <a:prstGeom prst="ellipse">
            <a:avLst/>
          </a:prstGeom>
          <a:solidFill>
            <a:srgbClr val="3EC6C6"/>
          </a:solidFill>
          <a:ln w="12700">
            <a:solidFill>
              <a:srgbClr val="3EC6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5478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389888" y="33741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14A"/>
                </a:solidFill>
              </a:rPr>
              <a:t>Improve source quality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77640" y="3364992"/>
            <a:ext cx="71323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040"/>
                </a:solidFill>
              </a:rPr>
              <a:t>Evaluate recruitment sources by retention and diversity outcomes, not hires alone.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389888" y="4078224"/>
            <a:ext cx="9784080" cy="0"/>
          </a:xfrm>
          <a:prstGeom prst="line">
            <a:avLst/>
          </a:prstGeom>
          <a:noFill/>
          <a:ln w="12700">
            <a:solidFill>
              <a:srgbClr val="E0E8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334256"/>
            <a:ext cx="512064" cy="512064"/>
          </a:xfrm>
          <a:prstGeom prst="ellipse">
            <a:avLst/>
          </a:prstGeom>
          <a:solidFill>
            <a:srgbClr val="F3B44B"/>
          </a:solidFill>
          <a:ln w="12700">
            <a:solidFill>
              <a:srgbClr val="F3B4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448970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389888" y="4315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14A"/>
                </a:solidFill>
              </a:rPr>
              <a:t>Plan succession early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977640" y="4306824"/>
            <a:ext cx="71323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040"/>
                </a:solidFill>
              </a:rPr>
              <a:t>Create transition plans for the 16 employees flagged by the retirement-risk forecast.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389888" y="5020056"/>
            <a:ext cx="9784080" cy="0"/>
          </a:xfrm>
          <a:prstGeom prst="line">
            <a:avLst/>
          </a:prstGeom>
          <a:noFill/>
          <a:ln w="12700">
            <a:solidFill>
              <a:srgbClr val="E0E8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5276088"/>
            <a:ext cx="512064" cy="512064"/>
          </a:xfrm>
          <a:prstGeom prst="ellipse">
            <a:avLst/>
          </a:prstGeom>
          <a:solidFill>
            <a:srgbClr val="2FA36B"/>
          </a:solidFill>
          <a:ln w="12700">
            <a:solidFill>
              <a:srgbClr val="2FA3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543153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389888" y="5257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14A"/>
                </a:solidFill>
              </a:rPr>
              <a:t>Turn signals into interventions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977640" y="5248656"/>
            <a:ext cx="71323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3040"/>
                </a:solidFill>
              </a:rPr>
              <a:t>Use satisfaction, lateness, performance and exit reasons together to target manager and employee actions.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8368" y="6263640"/>
            <a:ext cx="10515600" cy="365760"/>
          </a:xfrm>
          <a:prstGeom prst="roundRect">
            <a:avLst>
              <a:gd name="adj" fmla="val 10000"/>
            </a:avLst>
          </a:prstGeom>
          <a:solidFill>
            <a:srgbClr val="EAF4F5"/>
          </a:solidFill>
          <a:ln w="12700">
            <a:solidFill>
              <a:srgbClr val="EAF4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6364224"/>
            <a:ext cx="10104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14A"/>
                </a:solidFill>
              </a:rPr>
              <a:t>Next step: assign an owner, target date and success metric to each action, then review progress monthly in Power BI.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217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1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perspective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104241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88A"/>
                </a:solidFill>
              </a:rPr>
              <a:t>The dashboard is strongest when it becomes a recurring management conversation, not a one-time report.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10789920" cy="3383280"/>
          </a:xfrm>
          <a:prstGeom prst="roundRect">
            <a:avLst>
              <a:gd name="adj" fmla="val 2162"/>
            </a:avLst>
          </a:prstGeom>
          <a:solidFill>
            <a:srgbClr val="12314A"/>
          </a:solidFill>
          <a:ln w="12700">
            <a:solidFill>
              <a:srgbClr val="1231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933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66.56%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9E7"/>
                </a:solidFill>
              </a:rPr>
              <a:t>workforce retention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94760" y="19933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11.9%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794760" y="2606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9E7"/>
                </a:solidFill>
              </a:rPr>
              <a:t>high performers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37960" y="199339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$15M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537960" y="2606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9E7"/>
                </a:solidFill>
              </a:rPr>
              <a:t>active employee payroll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89720" y="19933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16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9006840" y="2606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E9E7"/>
                </a:solidFill>
              </a:rPr>
              <a:t>retirement risk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3337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5AA"/>
                </a:solidFill>
              </a:rPr>
              <a:t>Management focus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3730752"/>
            <a:ext cx="94640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Retain critical talent  •  stabilize high-risk departments  •  plan successors  •  connect people decisions to workforce cost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566928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314A"/>
                </a:solidFill>
              </a:rPr>
              <a:t>Thank you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HR Analytics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HR Analytics Dashboard: Workforce, Retention &amp; Strategic Insights</dc:title>
  <dc:subject>HR Analytics Dashboard presentation</dc:subject>
  <dc:creator>Hailey Miller</dc:creator>
  <lastModifiedBy>Hailey Miller</lastModifiedBy>
  <revision>1</revision>
  <dcterms:created xsi:type="dcterms:W3CDTF">2026-09-30T20:39:18.4138894Z</dcterms:created>
  <dcterms:modified xsi:type="dcterms:W3CDTF">2026-09-30T20:39:18.4138894Z</dcterms:modified>
</coreProperties>
</file>